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7"/>
  </p:sldMasterIdLst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 type="wide"/>
  <p:notesSz cx="6858000" cy="9144000"/>
  <p:defaultTextStyle>
    <a:defPPr>
      <a:defRPr lang="zh-CN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contact_sheet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contact_sheet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contact_sheet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kou_rendered_execution.png"/><Relationship Id="rId3" Type="http://schemas.openxmlformats.org/officeDocument/2006/relationships/image" Target="../media/xin_rendered_execution.png"/><Relationship Id="rId4" Type="http://schemas.openxmlformats.org/officeDocument/2006/relationships/image" Target="../media/zhong_rendered_execution.png"/><Relationship Id="rId5" Type="http://schemas.openxmlformats.org/officeDocument/2006/relationships/image" Target="../media/yong_rendered_execution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zhong_rendered_execution.png"/><Relationship Id="rId3" Type="http://schemas.openxmlformats.org/officeDocument/2006/relationships/image" Target="../media/yong_rendered_execution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width_pressure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Accent"/>
          <p:cNvSpPr txBox="1"/>
          <p:nvPr/>
        </p:nvSpPr>
        <p:spPr>
          <a:xfrm>
            <a:off x="804672" y="1261872"/>
            <a:ext cx="128016" cy="2157984"/>
          </a:xfrm>
          <a:prstGeom prst="rect">
            <a:avLst/>
          </a:prstGeom>
          <a:solidFill>
            <a:srgbClr val="3F7D6D"/>
          </a:solidFill>
          <a:ln w="12700">
            <a:solidFill>
              <a:srgbClr val="3F7D6D"/>
            </a:solidFill>
          </a:ln>
        </p:spPr>
        <p:txBody>
          <a:bodyPr wrap="square" anchor="t" lIns="91440" tIns="73152" rIns="91440" bIns="73152"/>
          <a:lstStyle/>
          <a:p/>
        </p:txBody>
      </p:sp>
      <p:sp>
        <p:nvSpPr>
          <p:cNvPr id="3" name="CoverTitle"/>
          <p:cNvSpPr txBox="1"/>
          <p:nvPr/>
        </p:nvSpPr>
        <p:spPr>
          <a:xfrm>
            <a:off x="1060704" y="1207008"/>
            <a:ext cx="548640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zh-CN" sz="3000" b="1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图像 / 轮廓到可写轨迹恢复阶段汇报</a:t>
            </a:r>
            <a:endParaRPr lang="zh-CN" sz="3000">
              <a:latin typeface="Microsoft YaHei"/>
              <a:ea typeface="Microsoft YaHei"/>
              <a:cs typeface="Arial"/>
            </a:endParaRPr>
          </a:p>
        </p:txBody>
      </p:sp>
      <p:sp>
        <p:nvSpPr>
          <p:cNvPr id="4" name="CoverSubtitle"/>
          <p:cNvSpPr txBox="1"/>
          <p:nvPr/>
        </p:nvSpPr>
        <p:spPr>
          <a:xfrm>
            <a:off x="1078992" y="2578608"/>
            <a:ext cx="530352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zh-CN" sz="1800">
                <a:solidFill>
                  <a:srgbClr val="4B5563"/>
                </a:solidFill>
                <a:latin typeface="Microsoft YaHei"/>
                <a:ea typeface="Microsoft YaHei"/>
                <a:cs typeface="Arial"/>
              </a:rPr>
              <a:t>第四章相关工作近期进展</a:t>
            </a:r>
            <a:endParaRPr lang="zh-CN" sz="1800">
              <a:latin typeface="Microsoft YaHei"/>
              <a:ea typeface="Microsoft YaHei"/>
              <a:cs typeface="Arial"/>
            </a:endParaRPr>
          </a:p>
        </p:txBody>
      </p:sp>
      <p:sp>
        <p:nvSpPr>
          <p:cNvPr id="5" name="CoverSummary"/>
          <p:cNvSpPr txBox="1"/>
          <p:nvPr/>
        </p:nvSpPr>
        <p:spPr>
          <a:xfrm>
            <a:off x="1078992" y="3657600"/>
            <a:ext cx="5029200" cy="8412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zh-CN" sz="1600">
                <a:solidFill>
                  <a:srgbClr val="6B7280"/>
                </a:solidFill>
                <a:latin typeface="Microsoft YaHei"/>
                <a:ea typeface="Microsoft YaHei"/>
                <a:cs typeface="Arial"/>
              </a:rPr>
              <a:t>从单字图像出发，整理当前的离线可写轨迹恢复思路与阶段性结果。</a:t>
            </a:r>
            <a:endParaRPr lang="zh-CN" sz="1600">
              <a:latin typeface="Microsoft YaHei"/>
              <a:ea typeface="Microsoft YaHei"/>
              <a:cs typeface="Arial"/>
            </a:endParaRPr>
          </a:p>
        </p:txBody>
      </p:sp>
      <p:pic>
        <p:nvPicPr>
          <p:cNvPr id="6" name="CoverContactShee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261872"/>
            <a:ext cx="3840480" cy="3794760"/>
          </a:xfrm>
          <a:prstGeom prst="rect">
            <a:avLst/>
          </a:prstGeom>
          <a:ln w="12700">
            <a:solidFill>
              <a:srgbClr val="DCE5DF"/>
            </a:solidFill>
          </a:ln>
        </p:spPr>
      </p:pic>
      <p:sp>
        <p:nvSpPr>
          <p:cNvPr id="7" name="CoverCaption"/>
          <p:cNvSpPr txBox="1"/>
          <p:nvPr/>
        </p:nvSpPr>
        <p:spPr>
          <a:xfrm>
            <a:off x="7498080" y="5230368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  <a:cs typeface="Arial"/>
              </a:rPr>
              <a:t>本地离线审计联系图</a:t>
            </a:r>
            <a:endParaRPr lang="zh-CN" sz="900">
              <a:latin typeface="Microsoft YaHei"/>
              <a:ea typeface="Microsoft YaHei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658368" y="420624"/>
            <a:ext cx="109728" cy="310896"/>
          </a:xfrm>
          <a:prstGeom prst="rect">
            <a:avLst/>
          </a:prstGeom>
          <a:solidFill>
            <a:srgbClr val="3F7D6D"/>
          </a:solidFill>
          <a:ln w="12700">
            <a:solidFill>
              <a:srgbClr val="3F7D6D"/>
            </a:solidFill>
          </a:ln>
        </p:spPr>
        <p:txBody>
          <a:bodyPr wrap="square" anchor="t" lIns="91440" tIns="73152" rIns="91440" bIns="73152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41248" y="310896"/>
            <a:ext cx="10424160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18288" rIns="0" bIns="0"/>
          <a:lstStyle/>
          <a:p>
            <a:pPr algn="l">
              <a:buNone/>
            </a:pPr>
            <a:r>
              <a:rPr lang="zh-CN" sz="2800" b="1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本章任务与研究路线</a:t>
            </a:r>
            <a:endParaRPr lang="zh-CN" sz="2800">
              <a:latin typeface="Microsoft YaHei"/>
              <a:ea typeface="Microsoft YaHei"/>
              <a:cs typeface="Arial"/>
            </a:endParaRPr>
          </a:p>
        </p:txBody>
      </p:sp>
      <p:sp>
        <p:nvSpPr>
          <p:cNvPr id="4" name="RouteBullets"/>
          <p:cNvSpPr txBox="1"/>
          <p:nvPr/>
        </p:nvSpPr>
        <p:spPr>
          <a:xfrm>
            <a:off x="804672" y="1243584"/>
            <a:ext cx="7086600" cy="1572768"/>
          </a:xfrm>
          <a:prstGeom prst="rect">
            <a:avLst/>
          </a:prstGeom>
          <a:solidFill>
            <a:srgbClr val="F7FAF8"/>
          </a:solidFill>
          <a:ln w="12700">
            <a:solidFill>
              <a:srgbClr val="DCE5DF"/>
            </a:solidFill>
          </a:ln>
        </p:spPr>
        <p:txBody>
          <a:bodyPr wrap="square" anchor="t" lIns="91440" tIns="73152" rIns="91440" bIns="73152"/>
          <a:lstStyle/>
          <a:p>
            <a:pPr algn="l">
              <a:buNone/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• 输入：单字图像或字体轮廓</a:t>
            </a:r>
            <a:endParaRPr lang="zh-CN" sz="1600">
              <a:latin typeface="Microsoft YaHei"/>
              <a:ea typeface="Microsoft YaHei"/>
              <a:cs typeface="Arial"/>
            </a:endParaRPr>
          </a:p>
          <a:p>
            <a:pPr algn="l">
              <a:buNone/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• 目标：恢复可写轨迹，而非静态识别结果</a:t>
            </a:r>
            <a:endParaRPr lang="zh-CN" sz="1600">
              <a:latin typeface="Microsoft YaHei"/>
              <a:ea typeface="Microsoft YaHei"/>
              <a:cs typeface="Arial"/>
            </a:endParaRPr>
          </a:p>
          <a:p>
            <a:pPr algn="l">
              <a:buNone/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• 当前路线：粗序列恢复 + 连续性后处理 + 人工目检</a:t>
            </a:r>
            <a:endParaRPr lang="zh-CN" sz="1600">
              <a:latin typeface="Microsoft YaHei"/>
              <a:ea typeface="Microsoft YaHei"/>
              <a:cs typeface="Arial"/>
            </a:endParaRPr>
          </a:p>
        </p:txBody>
      </p:sp>
      <p:pic>
        <p:nvPicPr>
          <p:cNvPr id="5" name="RouteThum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0" y="1261872"/>
            <a:ext cx="2468880" cy="2432304"/>
          </a:xfrm>
          <a:prstGeom prst="rect">
            <a:avLst/>
          </a:prstGeom>
          <a:ln w="12700">
            <a:solidFill>
              <a:srgbClr val="DCE5DF"/>
            </a:solidFill>
          </a:ln>
        </p:spPr>
      </p:pic>
      <p:sp>
        <p:nvSpPr>
          <p:cNvPr id="6" name="Step1"/>
          <p:cNvSpPr txBox="1"/>
          <p:nvPr/>
        </p:nvSpPr>
        <p:spPr>
          <a:xfrm>
            <a:off x="987552" y="3730752"/>
            <a:ext cx="1965960" cy="914400"/>
          </a:xfrm>
          <a:prstGeom prst="rect">
            <a:avLst/>
          </a:prstGeom>
          <a:solidFill>
            <a:srgbClr val="F1F6F3"/>
          </a:solidFill>
          <a:ln w="12700">
            <a:solidFill>
              <a:srgbClr val="DCE5DF"/>
            </a:solidFill>
          </a:ln>
        </p:spPr>
        <p:txBody>
          <a:bodyPr wrap="square" anchor="t" lIns="91440" tIns="73152" rIns="91440" bIns="73152"/>
          <a:lstStyle/>
          <a:p/>
        </p:txBody>
      </p:sp>
      <p:sp>
        <p:nvSpPr>
          <p:cNvPr id="7" name="Step1Text"/>
          <p:cNvSpPr txBox="1"/>
          <p:nvPr/>
        </p:nvSpPr>
        <p:spPr>
          <a:xfrm>
            <a:off x="987552" y="3730752"/>
            <a:ext cx="19659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164592" rIns="73152" bIns="73152"/>
          <a:lstStyle/>
          <a:p>
            <a:pPr algn="ctr">
              <a:buNone/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单字图像</a:t>
            </a:r>
            <a:br/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或轮廓</a:t>
            </a:r>
            <a:endParaRPr lang="zh-CN" sz="1600">
              <a:latin typeface="Microsoft YaHei"/>
              <a:ea typeface="Microsoft YaHei"/>
              <a:cs typeface="Arial"/>
            </a:endParaRPr>
          </a:p>
        </p:txBody>
      </p:sp>
      <p:sp>
        <p:nvSpPr>
          <p:cNvPr id="8" name="Arrow1"/>
          <p:cNvSpPr txBox="1"/>
          <p:nvPr/>
        </p:nvSpPr>
        <p:spPr>
          <a:xfrm>
            <a:off x="3072384" y="3986784"/>
            <a:ext cx="4206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zh-CN" sz="2200" b="1">
                <a:solidFill>
                  <a:srgbClr val="3F7D6D"/>
                </a:solidFill>
                <a:latin typeface="Microsoft YaHei"/>
                <a:ea typeface="Microsoft YaHei"/>
                <a:cs typeface="Arial"/>
              </a:rPr>
              <a:t>→</a:t>
            </a:r>
            <a:endParaRPr lang="zh-CN" sz="2200">
              <a:latin typeface="Microsoft YaHei"/>
              <a:ea typeface="Microsoft YaHei"/>
              <a:cs typeface="Arial"/>
            </a:endParaRPr>
          </a:p>
        </p:txBody>
      </p:sp>
      <p:sp>
        <p:nvSpPr>
          <p:cNvPr id="9" name="Step2"/>
          <p:cNvSpPr txBox="1"/>
          <p:nvPr/>
        </p:nvSpPr>
        <p:spPr>
          <a:xfrm>
            <a:off x="3584448" y="3730752"/>
            <a:ext cx="1965960" cy="914400"/>
          </a:xfrm>
          <a:prstGeom prst="rect">
            <a:avLst/>
          </a:prstGeom>
          <a:solidFill>
            <a:srgbClr val="F1F6F3"/>
          </a:solidFill>
          <a:ln w="12700">
            <a:solidFill>
              <a:srgbClr val="DCE5DF"/>
            </a:solidFill>
          </a:ln>
        </p:spPr>
        <p:txBody>
          <a:bodyPr wrap="square" anchor="t" lIns="91440" tIns="73152" rIns="91440" bIns="73152"/>
          <a:lstStyle/>
          <a:p/>
        </p:txBody>
      </p:sp>
      <p:sp>
        <p:nvSpPr>
          <p:cNvPr id="10" name="Step2Text"/>
          <p:cNvSpPr txBox="1"/>
          <p:nvPr/>
        </p:nvSpPr>
        <p:spPr>
          <a:xfrm>
            <a:off x="3584448" y="3730752"/>
            <a:ext cx="19659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164592" rIns="73152" bIns="73152"/>
          <a:lstStyle/>
          <a:p>
            <a:pPr algn="ctr">
              <a:buNone/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粗序列</a:t>
            </a:r>
            <a:br/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恢复</a:t>
            </a:r>
            <a:endParaRPr lang="zh-CN" sz="1600">
              <a:latin typeface="Microsoft YaHei"/>
              <a:ea typeface="Microsoft YaHei"/>
              <a:cs typeface="Arial"/>
            </a:endParaRPr>
          </a:p>
        </p:txBody>
      </p:sp>
      <p:sp>
        <p:nvSpPr>
          <p:cNvPr id="11" name="Arrow2"/>
          <p:cNvSpPr txBox="1"/>
          <p:nvPr/>
        </p:nvSpPr>
        <p:spPr>
          <a:xfrm>
            <a:off x="5669280" y="3986784"/>
            <a:ext cx="4206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zh-CN" sz="2200" b="1">
                <a:solidFill>
                  <a:srgbClr val="3F7D6D"/>
                </a:solidFill>
                <a:latin typeface="Microsoft YaHei"/>
                <a:ea typeface="Microsoft YaHei"/>
                <a:cs typeface="Arial"/>
              </a:rPr>
              <a:t>→</a:t>
            </a:r>
            <a:endParaRPr lang="zh-CN" sz="2200">
              <a:latin typeface="Microsoft YaHei"/>
              <a:ea typeface="Microsoft YaHei"/>
              <a:cs typeface="Arial"/>
            </a:endParaRPr>
          </a:p>
        </p:txBody>
      </p:sp>
      <p:sp>
        <p:nvSpPr>
          <p:cNvPr id="12" name="Step3"/>
          <p:cNvSpPr txBox="1"/>
          <p:nvPr/>
        </p:nvSpPr>
        <p:spPr>
          <a:xfrm>
            <a:off x="6181344" y="3730752"/>
            <a:ext cx="1965960" cy="914400"/>
          </a:xfrm>
          <a:prstGeom prst="rect">
            <a:avLst/>
          </a:prstGeom>
          <a:solidFill>
            <a:srgbClr val="F1F6F3"/>
          </a:solidFill>
          <a:ln w="12700">
            <a:solidFill>
              <a:srgbClr val="DCE5DF"/>
            </a:solidFill>
          </a:ln>
        </p:spPr>
        <p:txBody>
          <a:bodyPr wrap="square" anchor="t" lIns="91440" tIns="73152" rIns="91440" bIns="73152"/>
          <a:lstStyle/>
          <a:p/>
        </p:txBody>
      </p:sp>
      <p:sp>
        <p:nvSpPr>
          <p:cNvPr id="13" name="Step3Text"/>
          <p:cNvSpPr txBox="1"/>
          <p:nvPr/>
        </p:nvSpPr>
        <p:spPr>
          <a:xfrm>
            <a:off x="6181344" y="3730752"/>
            <a:ext cx="19659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164592" rIns="73152" bIns="73152"/>
          <a:lstStyle/>
          <a:p>
            <a:pPr algn="ctr">
              <a:buNone/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局部连续性</a:t>
            </a:r>
            <a:br/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修补</a:t>
            </a:r>
            <a:endParaRPr lang="zh-CN" sz="1600">
              <a:latin typeface="Microsoft YaHei"/>
              <a:ea typeface="Microsoft YaHei"/>
              <a:cs typeface="Arial"/>
            </a:endParaRPr>
          </a:p>
        </p:txBody>
      </p:sp>
      <p:sp>
        <p:nvSpPr>
          <p:cNvPr id="14" name="Arrow3"/>
          <p:cNvSpPr txBox="1"/>
          <p:nvPr/>
        </p:nvSpPr>
        <p:spPr>
          <a:xfrm>
            <a:off x="8266176" y="3986784"/>
            <a:ext cx="420624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tIns="0" rIns="0" bIns="0"/>
          <a:lstStyle/>
          <a:p>
            <a:pPr algn="ctr">
              <a:buNone/>
            </a:pPr>
            <a:r>
              <a:rPr lang="zh-CN" sz="2200" b="1">
                <a:solidFill>
                  <a:srgbClr val="3F7D6D"/>
                </a:solidFill>
                <a:latin typeface="Microsoft YaHei"/>
                <a:ea typeface="Microsoft YaHei"/>
                <a:cs typeface="Arial"/>
              </a:rPr>
              <a:t>→</a:t>
            </a:r>
            <a:endParaRPr lang="zh-CN" sz="2200">
              <a:latin typeface="Microsoft YaHei"/>
              <a:ea typeface="Microsoft YaHei"/>
              <a:cs typeface="Arial"/>
            </a:endParaRPr>
          </a:p>
        </p:txBody>
      </p:sp>
      <p:sp>
        <p:nvSpPr>
          <p:cNvPr id="15" name="Step4"/>
          <p:cNvSpPr txBox="1"/>
          <p:nvPr/>
        </p:nvSpPr>
        <p:spPr>
          <a:xfrm>
            <a:off x="8778240" y="3730752"/>
            <a:ext cx="1965960" cy="914400"/>
          </a:xfrm>
          <a:prstGeom prst="rect">
            <a:avLst/>
          </a:prstGeom>
          <a:solidFill>
            <a:srgbClr val="F1F6F3"/>
          </a:solidFill>
          <a:ln w="12700">
            <a:solidFill>
              <a:srgbClr val="DCE5DF"/>
            </a:solidFill>
          </a:ln>
        </p:spPr>
        <p:txBody>
          <a:bodyPr wrap="square" anchor="t" lIns="91440" tIns="73152" rIns="91440" bIns="73152"/>
          <a:lstStyle/>
          <a:p/>
        </p:txBody>
      </p:sp>
      <p:sp>
        <p:nvSpPr>
          <p:cNvPr id="16" name="Step4Text"/>
          <p:cNvSpPr txBox="1"/>
          <p:nvPr/>
        </p:nvSpPr>
        <p:spPr>
          <a:xfrm>
            <a:off x="8778240" y="3730752"/>
            <a:ext cx="19659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164592" rIns="73152" bIns="73152"/>
          <a:lstStyle/>
          <a:p>
            <a:pPr algn="ctr">
              <a:buNone/>
            </a:pPr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可写轨迹</a:t>
            </a:r>
            <a:br/>
            <a:r>
              <a:rPr lang="zh-CN" sz="1600" b="1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候选</a:t>
            </a:r>
            <a:endParaRPr lang="zh-CN" sz="1600">
              <a:latin typeface="Microsoft YaHei"/>
              <a:ea typeface="Microsoft YaHei"/>
              <a:cs typeface="Arial"/>
            </a:endParaRPr>
          </a:p>
        </p:txBody>
      </p:sp>
      <p:sp>
        <p:nvSpPr>
          <p:cNvPr id="17" name="RouteNote"/>
          <p:cNvSpPr txBox="1"/>
          <p:nvPr/>
        </p:nvSpPr>
        <p:spPr>
          <a:xfrm>
            <a:off x="960120" y="5650992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zh-CN" sz="1200">
                <a:solidFill>
                  <a:srgbClr val="6B7280"/>
                </a:solidFill>
                <a:latin typeface="Microsoft YaHei"/>
                <a:ea typeface="Microsoft YaHei"/>
                <a:cs typeface="Arial"/>
              </a:rPr>
              <a:t>当前结果以离线可视化人工目检为主，暂不直接等同于机器人实写结果。</a:t>
            </a:r>
            <a:endParaRPr lang="zh-CN" sz="1200">
              <a:latin typeface="Microsoft YaHei"/>
              <a:ea typeface="Microsoft YaHei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658368" y="420624"/>
            <a:ext cx="109728" cy="310896"/>
          </a:xfrm>
          <a:prstGeom prst="rect">
            <a:avLst/>
          </a:prstGeom>
          <a:solidFill>
            <a:srgbClr val="3F7D6D"/>
          </a:solidFill>
          <a:ln w="12700">
            <a:solidFill>
              <a:srgbClr val="3F7D6D"/>
            </a:solidFill>
          </a:ln>
        </p:spPr>
        <p:txBody>
          <a:bodyPr wrap="square" anchor="t" lIns="91440" tIns="73152" rIns="91440" bIns="73152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41248" y="310896"/>
            <a:ext cx="10424160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18288" rIns="0" bIns="0"/>
          <a:lstStyle/>
          <a:p>
            <a:pPr algn="l">
              <a:buNone/>
            </a:pPr>
            <a:r>
              <a:rPr lang="zh-CN" sz="2800" b="1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当前恢复结果概览</a:t>
            </a:r>
            <a:endParaRPr lang="zh-CN" sz="2800">
              <a:latin typeface="Microsoft YaHei"/>
              <a:ea typeface="Microsoft YaHei"/>
              <a:cs typeface="Arial"/>
            </a:endParaRPr>
          </a:p>
        </p:txBody>
      </p:sp>
      <p:sp>
        <p:nvSpPr>
          <p:cNvPr id="4" name="Subtitle"/>
          <p:cNvSpPr txBox="1"/>
          <p:nvPr/>
        </p:nvSpPr>
        <p:spPr>
          <a:xfrm>
            <a:off x="859536" y="859536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zh-CN" sz="1500">
                <a:solidFill>
                  <a:srgbClr val="3F7D6D"/>
                </a:solidFill>
                <a:latin typeface="Microsoft YaHei"/>
                <a:ea typeface="Microsoft YaHei"/>
                <a:cs typeface="Arial"/>
              </a:rPr>
              <a:t>已有离线原型雏形，样例间表现仍有明显差异</a:t>
            </a:r>
            <a:endParaRPr lang="zh-CN" sz="1500">
              <a:latin typeface="Microsoft YaHei"/>
              <a:ea typeface="Microsoft YaHei"/>
              <a:cs typeface="Arial"/>
            </a:endParaRPr>
          </a:p>
        </p:txBody>
      </p:sp>
      <p:sp>
        <p:nvSpPr>
          <p:cNvPr id="5" name="OverviewBullets"/>
          <p:cNvSpPr txBox="1"/>
          <p:nvPr/>
        </p:nvSpPr>
        <p:spPr>
          <a:xfrm>
            <a:off x="804672" y="1417320"/>
            <a:ext cx="2880360" cy="2084832"/>
          </a:xfrm>
          <a:prstGeom prst="rect">
            <a:avLst/>
          </a:prstGeom>
          <a:solidFill>
            <a:srgbClr val="F7FAF8"/>
          </a:solidFill>
          <a:ln w="12700">
            <a:solidFill>
              <a:srgbClr val="DCE5DF"/>
            </a:solidFill>
          </a:ln>
        </p:spPr>
        <p:txBody>
          <a:bodyPr wrap="square" anchor="t" lIns="91440" tIns="73152" rIns="91440" bIns="73152"/>
          <a:lstStyle/>
          <a:p>
            <a:pPr algn="l">
              <a:buNone/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• 已完成 4 个单字样例的离线恢复审计</a:t>
            </a:r>
            <a:endParaRPr lang="zh-CN" sz="1600">
              <a:latin typeface="Microsoft YaHei"/>
              <a:ea typeface="Microsoft YaHei"/>
              <a:cs typeface="Arial"/>
            </a:endParaRPr>
          </a:p>
          <a:p>
            <a:pPr algn="l">
              <a:buNone/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• 已能从输入图像得到初步可写轨迹</a:t>
            </a:r>
            <a:endParaRPr lang="zh-CN" sz="1600">
              <a:latin typeface="Microsoft YaHei"/>
              <a:ea typeface="Microsoft YaHei"/>
              <a:cs typeface="Arial"/>
            </a:endParaRPr>
          </a:p>
          <a:p>
            <a:pPr algn="l">
              <a:buNone/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• “口”“心”观感较稳定</a:t>
            </a:r>
            <a:endParaRPr lang="zh-CN" sz="1600">
              <a:latin typeface="Microsoft YaHei"/>
              <a:ea typeface="Microsoft YaHei"/>
              <a:cs typeface="Arial"/>
            </a:endParaRPr>
          </a:p>
          <a:p>
            <a:pPr algn="l">
              <a:buNone/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• “中”“永”仍有局部几何问题</a:t>
            </a:r>
            <a:endParaRPr lang="zh-CN" sz="1600">
              <a:latin typeface="Microsoft YaHei"/>
              <a:ea typeface="Microsoft YaHei"/>
              <a:cs typeface="Arial"/>
            </a:endParaRPr>
          </a:p>
        </p:txBody>
      </p:sp>
      <p:pic>
        <p:nvPicPr>
          <p:cNvPr id="6" name="OverviewContactShee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298448"/>
            <a:ext cx="6537960" cy="5166360"/>
          </a:xfrm>
          <a:prstGeom prst="rect">
            <a:avLst/>
          </a:prstGeom>
          <a:ln w="12700">
            <a:solidFill>
              <a:srgbClr val="DCE5DF"/>
            </a:solidFill>
          </a:ln>
        </p:spPr>
      </p:pic>
      <p:sp>
        <p:nvSpPr>
          <p:cNvPr id="7" name="OverviewCaption"/>
          <p:cNvSpPr txBox="1"/>
          <p:nvPr/>
        </p:nvSpPr>
        <p:spPr>
          <a:xfrm>
            <a:off x="4059936" y="6437376"/>
            <a:ext cx="64465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  <a:cs typeface="Arial"/>
              </a:rPr>
              <a:t>图：单字输入、恢复叠加与执行渲染的离线审计联系图</a:t>
            </a:r>
            <a:endParaRPr lang="zh-CN" sz="900">
              <a:latin typeface="Microsoft YaHei"/>
              <a:ea typeface="Microsoft YaHei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658368" y="420624"/>
            <a:ext cx="109728" cy="310896"/>
          </a:xfrm>
          <a:prstGeom prst="rect">
            <a:avLst/>
          </a:prstGeom>
          <a:solidFill>
            <a:srgbClr val="3F7D6D"/>
          </a:solidFill>
          <a:ln w="12700">
            <a:solidFill>
              <a:srgbClr val="3F7D6D"/>
            </a:solidFill>
          </a:ln>
        </p:spPr>
        <p:txBody>
          <a:bodyPr wrap="square" anchor="t" lIns="91440" tIns="73152" rIns="91440" bIns="73152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41248" y="310896"/>
            <a:ext cx="10424160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18288" rIns="0" bIns="0"/>
          <a:lstStyle/>
          <a:p>
            <a:pPr algn="l">
              <a:buNone/>
            </a:pPr>
            <a:r>
              <a:rPr lang="zh-CN" sz="2800" b="1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代表性恢复样例</a:t>
            </a:r>
            <a:endParaRPr lang="zh-CN" sz="2800">
              <a:latin typeface="Microsoft YaHei"/>
              <a:ea typeface="Microsoft YaHei"/>
              <a:cs typeface="Arial"/>
            </a:endParaRPr>
          </a:p>
        </p:txBody>
      </p:sp>
      <p:sp>
        <p:nvSpPr>
          <p:cNvPr id="4" name="SampleSummary"/>
          <p:cNvSpPr txBox="1"/>
          <p:nvPr/>
        </p:nvSpPr>
        <p:spPr>
          <a:xfrm>
            <a:off x="868680" y="950976"/>
            <a:ext cx="105156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buNone/>
            </a:pPr>
            <a:r>
              <a:rPr lang="zh-CN" sz="1300">
                <a:solidFill>
                  <a:srgbClr val="3F7D6D"/>
                </a:solidFill>
                <a:latin typeface="Microsoft YaHei"/>
                <a:ea typeface="Microsoft YaHei"/>
                <a:cs typeface="Arial"/>
              </a:rPr>
              <a:t>简单字与部分闭合结构已有一定可用性；复杂转折与交汇结构仍是主要难点。</a:t>
            </a:r>
            <a:endParaRPr lang="zh-CN" sz="1300">
              <a:latin typeface="Microsoft YaHei"/>
              <a:ea typeface="Microsoft YaHei"/>
              <a:cs typeface="Arial"/>
            </a:endParaRPr>
          </a:p>
        </p:txBody>
      </p:sp>
      <p:sp>
        <p:nvSpPr>
          <p:cNvPr id="5" name="Card1"/>
          <p:cNvSpPr txBox="1"/>
          <p:nvPr/>
        </p:nvSpPr>
        <p:spPr>
          <a:xfrm>
            <a:off x="804672" y="1417320"/>
            <a:ext cx="5230368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DF"/>
            </a:solidFill>
          </a:ln>
        </p:spPr>
        <p:txBody>
          <a:bodyPr wrap="square" anchor="t" lIns="91440" tIns="73152" rIns="91440" bIns="73152"/>
          <a:lstStyle/>
          <a:p/>
        </p:txBody>
      </p:sp>
      <p:pic>
        <p:nvPicPr>
          <p:cNvPr id="6" name="CardImage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545336"/>
            <a:ext cx="4974336" cy="1664208"/>
          </a:xfrm>
          <a:prstGeom prst="rect">
            <a:avLst/>
          </a:prstGeom>
          <a:ln w="12700">
            <a:solidFill>
              <a:srgbClr val="DCE5DF"/>
            </a:solidFill>
          </a:ln>
        </p:spPr>
      </p:pic>
      <p:sp>
        <p:nvSpPr>
          <p:cNvPr id="7" name="CardCaption1"/>
          <p:cNvSpPr txBox="1"/>
          <p:nvPr/>
        </p:nvSpPr>
        <p:spPr>
          <a:xfrm>
            <a:off x="896112" y="3264408"/>
            <a:ext cx="5047488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zh-CN" sz="1000">
                <a:solidFill>
                  <a:srgbClr val="4B5563"/>
                </a:solidFill>
                <a:latin typeface="Microsoft YaHei"/>
                <a:ea typeface="Microsoft YaHei"/>
                <a:cs typeface="Arial"/>
              </a:rPr>
              <a:t>口：轮廓较稳定，整体观感较顺</a:t>
            </a:r>
            <a:endParaRPr lang="zh-CN" sz="1000">
              <a:latin typeface="Microsoft YaHei"/>
              <a:ea typeface="Microsoft YaHei"/>
              <a:cs typeface="Arial"/>
            </a:endParaRPr>
          </a:p>
        </p:txBody>
      </p:sp>
      <p:sp>
        <p:nvSpPr>
          <p:cNvPr id="8" name="Card2"/>
          <p:cNvSpPr txBox="1"/>
          <p:nvPr/>
        </p:nvSpPr>
        <p:spPr>
          <a:xfrm>
            <a:off x="6144768" y="1417320"/>
            <a:ext cx="5230368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DF"/>
            </a:solidFill>
          </a:ln>
        </p:spPr>
        <p:txBody>
          <a:bodyPr wrap="square" anchor="t" lIns="91440" tIns="73152" rIns="91440" bIns="73152"/>
          <a:lstStyle/>
          <a:p/>
        </p:txBody>
      </p:sp>
      <p:pic>
        <p:nvPicPr>
          <p:cNvPr id="9" name="CardImage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545336"/>
            <a:ext cx="4974336" cy="1664208"/>
          </a:xfrm>
          <a:prstGeom prst="rect">
            <a:avLst/>
          </a:prstGeom>
          <a:ln w="12700">
            <a:solidFill>
              <a:srgbClr val="DCE5DF"/>
            </a:solidFill>
          </a:ln>
        </p:spPr>
      </p:pic>
      <p:sp>
        <p:nvSpPr>
          <p:cNvPr id="10" name="CardCaption2"/>
          <p:cNvSpPr txBox="1"/>
          <p:nvPr/>
        </p:nvSpPr>
        <p:spPr>
          <a:xfrm>
            <a:off x="6236208" y="3264408"/>
            <a:ext cx="5047488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zh-CN" sz="1000">
                <a:solidFill>
                  <a:srgbClr val="4B5563"/>
                </a:solidFill>
                <a:latin typeface="Microsoft YaHei"/>
                <a:ea typeface="Microsoft YaHei"/>
                <a:cs typeface="Arial"/>
              </a:rPr>
              <a:t>心：整体成形，但细部仍有偏差</a:t>
            </a:r>
            <a:endParaRPr lang="zh-CN" sz="1000">
              <a:latin typeface="Microsoft YaHei"/>
              <a:ea typeface="Microsoft YaHei"/>
              <a:cs typeface="Arial"/>
            </a:endParaRPr>
          </a:p>
        </p:txBody>
      </p:sp>
      <p:sp>
        <p:nvSpPr>
          <p:cNvPr id="11" name="Card3"/>
          <p:cNvSpPr txBox="1"/>
          <p:nvPr/>
        </p:nvSpPr>
        <p:spPr>
          <a:xfrm>
            <a:off x="804672" y="3968496"/>
            <a:ext cx="5230368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DF"/>
            </a:solidFill>
          </a:ln>
        </p:spPr>
        <p:txBody>
          <a:bodyPr wrap="square" anchor="t" lIns="91440" tIns="73152" rIns="91440" bIns="73152"/>
          <a:lstStyle/>
          <a:p/>
        </p:txBody>
      </p:sp>
      <p:pic>
        <p:nvPicPr>
          <p:cNvPr id="12" name="CardImage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096512"/>
            <a:ext cx="4974336" cy="1664208"/>
          </a:xfrm>
          <a:prstGeom prst="rect">
            <a:avLst/>
          </a:prstGeom>
          <a:ln w="12700">
            <a:solidFill>
              <a:srgbClr val="DCE5DF"/>
            </a:solidFill>
          </a:ln>
        </p:spPr>
      </p:pic>
      <p:sp>
        <p:nvSpPr>
          <p:cNvPr id="13" name="CardCaption3"/>
          <p:cNvSpPr txBox="1"/>
          <p:nvPr/>
        </p:nvSpPr>
        <p:spPr>
          <a:xfrm>
            <a:off x="896112" y="5815584"/>
            <a:ext cx="5047488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zh-CN" sz="1000">
                <a:solidFill>
                  <a:srgbClr val="4B5563"/>
                </a:solidFill>
                <a:latin typeface="Microsoft YaHei"/>
                <a:ea typeface="Microsoft YaHei"/>
                <a:cs typeface="Arial"/>
              </a:rPr>
              <a:t>中：交汇处更容易出现局部不顺</a:t>
            </a:r>
            <a:endParaRPr lang="zh-CN" sz="1000">
              <a:latin typeface="Microsoft YaHei"/>
              <a:ea typeface="Microsoft YaHei"/>
              <a:cs typeface="Arial"/>
            </a:endParaRPr>
          </a:p>
        </p:txBody>
      </p:sp>
      <p:sp>
        <p:nvSpPr>
          <p:cNvPr id="14" name="Card4"/>
          <p:cNvSpPr txBox="1"/>
          <p:nvPr/>
        </p:nvSpPr>
        <p:spPr>
          <a:xfrm>
            <a:off x="6144768" y="3968496"/>
            <a:ext cx="5230368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DF"/>
            </a:solidFill>
          </a:ln>
        </p:spPr>
        <p:txBody>
          <a:bodyPr wrap="square" anchor="t" lIns="91440" tIns="73152" rIns="91440" bIns="73152"/>
          <a:lstStyle/>
          <a:p/>
        </p:txBody>
      </p:sp>
      <p:pic>
        <p:nvPicPr>
          <p:cNvPr id="15" name="CardImage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4096512"/>
            <a:ext cx="4974336" cy="1664208"/>
          </a:xfrm>
          <a:prstGeom prst="rect">
            <a:avLst/>
          </a:prstGeom>
          <a:ln w="12700">
            <a:solidFill>
              <a:srgbClr val="DCE5DF"/>
            </a:solidFill>
          </a:ln>
        </p:spPr>
      </p:pic>
      <p:sp>
        <p:nvSpPr>
          <p:cNvPr id="16" name="CardCaption4"/>
          <p:cNvSpPr txBox="1"/>
          <p:nvPr/>
        </p:nvSpPr>
        <p:spPr>
          <a:xfrm>
            <a:off x="6236208" y="5815584"/>
            <a:ext cx="5047488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zh-CN" sz="1000">
                <a:solidFill>
                  <a:srgbClr val="4B5563"/>
                </a:solidFill>
                <a:latin typeface="Microsoft YaHei"/>
                <a:ea typeface="Microsoft YaHei"/>
                <a:cs typeface="Arial"/>
              </a:rPr>
              <a:t>永：转折较多，局部形变更明显</a:t>
            </a:r>
            <a:endParaRPr lang="zh-CN" sz="1000">
              <a:latin typeface="Microsoft YaHei"/>
              <a:ea typeface="Microsoft YaHei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658368" y="420624"/>
            <a:ext cx="109728" cy="310896"/>
          </a:xfrm>
          <a:prstGeom prst="rect">
            <a:avLst/>
          </a:prstGeom>
          <a:solidFill>
            <a:srgbClr val="3F7D6D"/>
          </a:solidFill>
          <a:ln w="12700">
            <a:solidFill>
              <a:srgbClr val="3F7D6D"/>
            </a:solidFill>
          </a:ln>
        </p:spPr>
        <p:txBody>
          <a:bodyPr wrap="square" anchor="t" lIns="91440" tIns="73152" rIns="91440" bIns="73152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41248" y="310896"/>
            <a:ext cx="10424160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18288" rIns="0" bIns="0"/>
          <a:lstStyle/>
          <a:p>
            <a:pPr algn="l">
              <a:buNone/>
            </a:pPr>
            <a:r>
              <a:rPr lang="zh-CN" sz="2800" b="1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当前瓶颈与问题分析</a:t>
            </a:r>
            <a:endParaRPr lang="zh-CN" sz="2800">
              <a:latin typeface="Microsoft YaHei"/>
              <a:ea typeface="Microsoft YaHei"/>
              <a:cs typeface="Arial"/>
            </a:endParaRPr>
          </a:p>
        </p:txBody>
      </p:sp>
      <p:sp>
        <p:nvSpPr>
          <p:cNvPr id="4" name="BottleneckBullets"/>
          <p:cNvSpPr txBox="1"/>
          <p:nvPr/>
        </p:nvSpPr>
        <p:spPr>
          <a:xfrm>
            <a:off x="804672" y="1389888"/>
            <a:ext cx="3977640" cy="1993392"/>
          </a:xfrm>
          <a:prstGeom prst="rect">
            <a:avLst/>
          </a:prstGeom>
          <a:solidFill>
            <a:srgbClr val="F7FAF8"/>
          </a:solidFill>
          <a:ln w="12700">
            <a:solidFill>
              <a:srgbClr val="DCE5DF"/>
            </a:solidFill>
          </a:ln>
        </p:spPr>
        <p:txBody>
          <a:bodyPr wrap="square" anchor="t" lIns="91440" tIns="73152" rIns="91440" bIns="73152"/>
          <a:lstStyle/>
          <a:p>
            <a:pPr algn="l">
              <a:buNone/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• 主要困难不在最终渲染，而在上游轨迹局部结构恢复</a:t>
            </a:r>
            <a:endParaRPr lang="zh-CN" sz="1600">
              <a:latin typeface="Microsoft YaHei"/>
              <a:ea typeface="Microsoft YaHei"/>
              <a:cs typeface="Arial"/>
            </a:endParaRPr>
          </a:p>
          <a:p>
            <a:pPr algn="l">
              <a:buNone/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• 典型问题包括交汇处小结点、局部鼓包、分段感残留</a:t>
            </a:r>
            <a:endParaRPr lang="zh-CN" sz="1600">
              <a:latin typeface="Microsoft YaHei"/>
              <a:ea typeface="Microsoft YaHei"/>
              <a:cs typeface="Arial"/>
            </a:endParaRPr>
          </a:p>
          <a:p>
            <a:pPr algn="l">
              <a:buNone/>
            </a:pPr>
            <a:r>
              <a:rPr lang="zh-CN" sz="1600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• heuristic 修补已有帮助，但尚未带来质变</a:t>
            </a:r>
            <a:endParaRPr lang="zh-CN" sz="1600">
              <a:latin typeface="Microsoft YaHei"/>
              <a:ea typeface="Microsoft YaHei"/>
              <a:cs typeface="Arial"/>
            </a:endParaRPr>
          </a:p>
        </p:txBody>
      </p:sp>
      <p:pic>
        <p:nvPicPr>
          <p:cNvPr id="5" name="BottleneckZho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53312"/>
            <a:ext cx="2240280" cy="4297680"/>
          </a:xfrm>
          <a:prstGeom prst="rect">
            <a:avLst/>
          </a:prstGeom>
          <a:ln w="12700">
            <a:solidFill>
              <a:srgbClr val="DCE5DF"/>
            </a:solidFill>
          </a:ln>
        </p:spPr>
      </p:pic>
      <p:pic>
        <p:nvPicPr>
          <p:cNvPr id="6" name="BottleneckYo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353312"/>
            <a:ext cx="2514600" cy="4297680"/>
          </a:xfrm>
          <a:prstGeom prst="rect">
            <a:avLst/>
          </a:prstGeom>
          <a:ln w="12700">
            <a:solidFill>
              <a:srgbClr val="DCE5DF"/>
            </a:solidFill>
          </a:ln>
        </p:spPr>
      </p:pic>
      <p:sp>
        <p:nvSpPr>
          <p:cNvPr id="7" name="ZhongCaption"/>
          <p:cNvSpPr txBox="1"/>
          <p:nvPr/>
        </p:nvSpPr>
        <p:spPr>
          <a:xfrm>
            <a:off x="5504688" y="5650992"/>
            <a:ext cx="239572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zh-CN" sz="1000">
                <a:solidFill>
                  <a:srgbClr val="4B5563"/>
                </a:solidFill>
                <a:latin typeface="Microsoft YaHei"/>
                <a:ea typeface="Microsoft YaHei"/>
                <a:cs typeface="Arial"/>
              </a:rPr>
              <a:t>中：交汇与横竖关系仍不稳</a:t>
            </a:r>
            <a:endParaRPr lang="zh-CN" sz="1000">
              <a:latin typeface="Microsoft YaHei"/>
              <a:ea typeface="Microsoft YaHei"/>
              <a:cs typeface="Arial"/>
            </a:endParaRPr>
          </a:p>
        </p:txBody>
      </p:sp>
      <p:sp>
        <p:nvSpPr>
          <p:cNvPr id="8" name="YongCaption"/>
          <p:cNvSpPr txBox="1"/>
          <p:nvPr/>
        </p:nvSpPr>
        <p:spPr>
          <a:xfrm>
            <a:off x="8275320" y="5650992"/>
            <a:ext cx="26974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zh-CN" sz="1000">
                <a:solidFill>
                  <a:srgbClr val="4B5563"/>
                </a:solidFill>
                <a:latin typeface="Microsoft YaHei"/>
                <a:ea typeface="Microsoft YaHei"/>
                <a:cs typeface="Arial"/>
              </a:rPr>
              <a:t>永：多转折结构更易累积偏差</a:t>
            </a:r>
            <a:endParaRPr lang="zh-CN" sz="1000">
              <a:latin typeface="Microsoft YaHei"/>
              <a:ea typeface="Microsoft YaHei"/>
              <a:cs typeface="Arial"/>
            </a:endParaRPr>
          </a:p>
        </p:txBody>
      </p:sp>
      <p:sp>
        <p:nvSpPr>
          <p:cNvPr id="9" name="BottleneckTakeaway"/>
          <p:cNvSpPr txBox="1"/>
          <p:nvPr/>
        </p:nvSpPr>
        <p:spPr>
          <a:xfrm>
            <a:off x="896112" y="6053328"/>
            <a:ext cx="10058400" cy="384048"/>
          </a:xfrm>
          <a:prstGeom prst="rect">
            <a:avLst/>
          </a:prstGeom>
          <a:solidFill>
            <a:srgbClr val="F1F6F3"/>
          </a:solidFill>
          <a:ln>
            <a:noFill/>
          </a:ln>
        </p:spPr>
        <p:txBody>
          <a:bodyPr wrap="square" anchor="ctr" lIns="0" tIns="54864" rIns="0" bIns="0"/>
          <a:lstStyle/>
          <a:p>
            <a:pPr algn="ctr">
              <a:buNone/>
            </a:pPr>
            <a:r>
              <a:rPr lang="zh-CN" sz="1300" b="1">
                <a:solidFill>
                  <a:srgbClr val="3F7D6D"/>
                </a:solidFill>
                <a:latin typeface="Microsoft YaHei"/>
                <a:ea typeface="Microsoft YaHei"/>
                <a:cs typeface="Arial"/>
              </a:rPr>
              <a:t>当前核心瓶颈是复杂结构的连续性与几何一致性。</a:t>
            </a:r>
            <a:endParaRPr lang="zh-CN" sz="1300">
              <a:latin typeface="Microsoft YaHei"/>
              <a:ea typeface="Microsoft YaHei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 txBox="1"/>
          <p:nvPr/>
        </p:nvSpPr>
        <p:spPr>
          <a:xfrm>
            <a:off x="658368" y="420624"/>
            <a:ext cx="109728" cy="310896"/>
          </a:xfrm>
          <a:prstGeom prst="rect">
            <a:avLst/>
          </a:prstGeom>
          <a:solidFill>
            <a:srgbClr val="3F7D6D"/>
          </a:solidFill>
          <a:ln w="12700">
            <a:solidFill>
              <a:srgbClr val="3F7D6D"/>
            </a:solidFill>
          </a:ln>
        </p:spPr>
        <p:txBody>
          <a:bodyPr wrap="square" anchor="t" lIns="91440" tIns="73152" rIns="91440" bIns="73152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841248" y="310896"/>
            <a:ext cx="10424160" cy="5852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18288" rIns="0" bIns="0"/>
          <a:lstStyle/>
          <a:p>
            <a:pPr algn="l">
              <a:buNone/>
            </a:pPr>
            <a:r>
              <a:rPr lang="zh-CN" sz="2800" b="1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阶段结论与下一步</a:t>
            </a:r>
            <a:endParaRPr lang="zh-CN" sz="2800">
              <a:latin typeface="Microsoft YaHei"/>
              <a:ea typeface="Microsoft YaHei"/>
              <a:cs typeface="Arial"/>
            </a:endParaRPr>
          </a:p>
        </p:txBody>
      </p:sp>
      <p:pic>
        <p:nvPicPr>
          <p:cNvPr id="4" name="WidthPress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53312"/>
            <a:ext cx="4617720" cy="4617720"/>
          </a:xfrm>
          <a:prstGeom prst="rect">
            <a:avLst/>
          </a:prstGeom>
          <a:ln w="12700">
            <a:solidFill>
              <a:srgbClr val="DCE5DF"/>
            </a:solidFill>
          </a:ln>
        </p:spPr>
      </p:pic>
      <p:sp>
        <p:nvSpPr>
          <p:cNvPr id="5" name="WidthPressureCaption"/>
          <p:cNvSpPr txBox="1"/>
          <p:nvPr/>
        </p:nvSpPr>
        <p:spPr>
          <a:xfrm>
            <a:off x="868680" y="6071616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buNone/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  <a:cs typeface="Arial"/>
              </a:rPr>
              <a:t>下游宽度 / 压力表达链路已具备，可作为后续恢复结果的承接基础。</a:t>
            </a:r>
            <a:endParaRPr lang="zh-CN" sz="900">
              <a:latin typeface="Microsoft YaHei"/>
              <a:ea typeface="Microsoft YaHei"/>
              <a:cs typeface="Arial"/>
            </a:endParaRPr>
          </a:p>
        </p:txBody>
      </p:sp>
      <p:sp>
        <p:nvSpPr>
          <p:cNvPr id="6" name="ConclusionPanel"/>
          <p:cNvSpPr txBox="1"/>
          <p:nvPr/>
        </p:nvSpPr>
        <p:spPr>
          <a:xfrm>
            <a:off x="5870448" y="1389888"/>
            <a:ext cx="5257800" cy="2011680"/>
          </a:xfrm>
          <a:prstGeom prst="rect">
            <a:avLst/>
          </a:prstGeom>
          <a:solidFill>
            <a:srgbClr val="F7FAF8"/>
          </a:solidFill>
          <a:ln w="12700">
            <a:solidFill>
              <a:srgbClr val="DCE5DF"/>
            </a:solidFill>
          </a:ln>
        </p:spPr>
        <p:txBody>
          <a:bodyPr wrap="square" anchor="t" lIns="91440" tIns="73152" rIns="91440" bIns="73152"/>
          <a:lstStyle/>
          <a:p>
            <a:pPr algn="l">
              <a:buNone/>
            </a:pPr>
            <a:r>
              <a:rPr lang="zh-CN" sz="1600" b="1">
                <a:solidFill>
                  <a:srgbClr val="3F7D6D"/>
                </a:solidFill>
                <a:latin typeface="Microsoft YaHei"/>
                <a:ea typeface="Microsoft YaHei"/>
                <a:cs typeface="Arial"/>
              </a:rPr>
              <a:t>阶段结论</a:t>
            </a:r>
            <a:endParaRPr lang="zh-CN" sz="1600">
              <a:latin typeface="Microsoft YaHei"/>
              <a:ea typeface="Microsoft YaHei"/>
              <a:cs typeface="Arial"/>
            </a:endParaRPr>
          </a:p>
          <a:p>
            <a:pPr algn="l">
              <a:buNone/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• 已跑通离线恢复到可视化审查的基本链路</a:t>
            </a:r>
            <a:endParaRPr lang="zh-CN" sz="1500">
              <a:latin typeface="Microsoft YaHei"/>
              <a:ea typeface="Microsoft YaHei"/>
              <a:cs typeface="Arial"/>
            </a:endParaRPr>
          </a:p>
          <a:p>
            <a:pPr algn="l">
              <a:buNone/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• 已得到一批可展示的初步恢复样例</a:t>
            </a:r>
            <a:endParaRPr lang="zh-CN" sz="1500">
              <a:latin typeface="Microsoft YaHei"/>
              <a:ea typeface="Microsoft YaHei"/>
              <a:cs typeface="Arial"/>
            </a:endParaRPr>
          </a:p>
        </p:txBody>
      </p:sp>
      <p:sp>
        <p:nvSpPr>
          <p:cNvPr id="7" name="NextStepPanel"/>
          <p:cNvSpPr txBox="1"/>
          <p:nvPr/>
        </p:nvSpPr>
        <p:spPr>
          <a:xfrm>
            <a:off x="5870448" y="3675888"/>
            <a:ext cx="5257800" cy="1792224"/>
          </a:xfrm>
          <a:prstGeom prst="rect">
            <a:avLst/>
          </a:prstGeom>
          <a:solidFill>
            <a:srgbClr val="F7FAF8"/>
          </a:solidFill>
          <a:ln w="12700">
            <a:solidFill>
              <a:srgbClr val="DCE5DF"/>
            </a:solidFill>
          </a:ln>
        </p:spPr>
        <p:txBody>
          <a:bodyPr wrap="square" anchor="t" lIns="91440" tIns="73152" rIns="91440" bIns="73152"/>
          <a:lstStyle/>
          <a:p>
            <a:pPr algn="l">
              <a:buNone/>
            </a:pPr>
            <a:r>
              <a:rPr lang="zh-CN" sz="1600" b="1">
                <a:solidFill>
                  <a:srgbClr val="3F7D6D"/>
                </a:solidFill>
                <a:latin typeface="Microsoft YaHei"/>
                <a:ea typeface="Microsoft YaHei"/>
                <a:cs typeface="Arial"/>
              </a:rPr>
              <a:t>下一步方向</a:t>
            </a:r>
            <a:endParaRPr lang="zh-CN" sz="1600">
              <a:latin typeface="Microsoft YaHei"/>
              <a:ea typeface="Microsoft YaHei"/>
              <a:cs typeface="Arial"/>
            </a:endParaRPr>
          </a:p>
          <a:p>
            <a:pPr algn="l">
              <a:buNone/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• 重点评估更强的局部结构恢复方案</a:t>
            </a:r>
            <a:endParaRPr lang="zh-CN" sz="1500">
              <a:latin typeface="Microsoft YaHei"/>
              <a:ea typeface="Microsoft YaHei"/>
              <a:cs typeface="Arial"/>
            </a:endParaRPr>
          </a:p>
          <a:p>
            <a:pPr algn="l">
              <a:buNone/>
            </a:pPr>
            <a:r>
              <a:rPr lang="zh-CN" sz="1500">
                <a:solidFill>
                  <a:srgbClr val="1F2937"/>
                </a:solidFill>
                <a:latin typeface="Microsoft YaHei"/>
                <a:ea typeface="Microsoft YaHei"/>
                <a:cs typeface="Arial"/>
              </a:rPr>
              <a:t>• 并比较更真实的离线笔迹回放方式</a:t>
            </a:r>
            <a:endParaRPr lang="zh-CN" sz="1500">
              <a:latin typeface="Microsoft YaHei"/>
              <a:ea typeface="Microsoft YaHei"/>
              <a:cs typeface="Arial"/>
            </a:endParaRPr>
          </a:p>
        </p:txBody>
      </p:sp>
      <p:sp>
        <p:nvSpPr>
          <p:cNvPr id="8" name="FinalTakeaway"/>
          <p:cNvSpPr txBox="1"/>
          <p:nvPr/>
        </p:nvSpPr>
        <p:spPr>
          <a:xfrm>
            <a:off x="6016752" y="5852160"/>
            <a:ext cx="4983480" cy="475488"/>
          </a:xfrm>
          <a:prstGeom prst="rect">
            <a:avLst/>
          </a:prstGeom>
          <a:solidFill>
            <a:srgbClr val="F1F6F3"/>
          </a:solidFill>
          <a:ln>
            <a:noFill/>
          </a:ln>
        </p:spPr>
        <p:txBody>
          <a:bodyPr wrap="square" anchor="ctr" lIns="0" tIns="73152" rIns="0" bIns="0"/>
          <a:lstStyle/>
          <a:p>
            <a:pPr algn="ctr">
              <a:buNone/>
            </a:pPr>
            <a:r>
              <a:rPr lang="zh-CN" sz="1300" b="1">
                <a:solidFill>
                  <a:srgbClr val="3F7D6D"/>
                </a:solidFill>
                <a:latin typeface="Microsoft YaHei"/>
                <a:ea typeface="Microsoft YaHei"/>
                <a:cs typeface="Arial"/>
              </a:rPr>
              <a:t>当前已有雏形，但复杂结构仍需重点突破。</a:t>
            </a:r>
            <a:endParaRPr lang="zh-CN" sz="1300">
              <a:latin typeface="Microsoft YaHei"/>
              <a:ea typeface="Microsoft YaHei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geReportTheme">
  <a:themeElements>
    <a:clrScheme name="StageReport">
      <a:dk1>
        <a:sysClr val="windowText" lastClr="000000"/>
      </a:dk1>
      <a:lt1>
        <a:sysClr val="window" lastClr="FFFFFF"/>
      </a:lt1>
      <a:dk2>
        <a:srgbClr val="1F2937"/>
      </a:dk2>
      <a:lt2>
        <a:srgbClr val="F7FAF8"/>
      </a:lt2>
      <a:accent1>
        <a:srgbClr val="3F7D6D"/>
      </a:accent1>
      <a:accent2>
        <a:srgbClr val="8C6A2F"/>
      </a:accent2>
      <a:accent3>
        <a:srgbClr val="6B7B6A"/>
      </a:accent3>
      <a:accent4>
        <a:srgbClr val="B7682B"/>
      </a:accent4>
      <a:accent5>
        <a:srgbClr val="A33D2B"/>
      </a:accent5>
      <a:accent6>
        <a:srgbClr val="74808B"/>
      </a:accent6>
      <a:hlink>
        <a:srgbClr val="8C6A2F"/>
      </a:hlink>
      <a:folHlink>
        <a:srgbClr val="6E4C8C"/>
      </a:folHlink>
    </a:clrScheme>
    <a:fontScheme name="Office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6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图像轮廓到可写轨迹恢复阶段汇报</dc:title>
  <dc:creator>Codex</dc:creator>
  <cp:lastModifiedBy>Codex</cp:lastModifiedBy>
  <dcterms:created xsi:type="dcterms:W3CDTF">2026-07-01T15:24:04Z</dcterms:created>
  <dcterms:modified xsi:type="dcterms:W3CDTF">2026-07-01T15:24:04Z</dcterms:modified>
</cp:coreProperties>
</file>